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4" r:id="rId6"/>
    <p:sldId id="258" r:id="rId7"/>
    <p:sldId id="259" r:id="rId8"/>
    <p:sldId id="260" r:id="rId9"/>
    <p:sldId id="262" r:id="rId10"/>
    <p:sldId id="263" r:id="rId11"/>
    <p:sldId id="25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0655" autoAdjust="0"/>
  </p:normalViewPr>
  <p:slideViewPr>
    <p:cSldViewPr snapToGrid="0">
      <p:cViewPr varScale="1">
        <p:scale>
          <a:sx n="145" d="100"/>
          <a:sy n="145" d="100"/>
        </p:scale>
        <p:origin x="828" y="126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navigating-skies-ethics-regulations-drones-public-safety" TargetMode="External"/><Relationship Id="rId2" Type="http://schemas.openxmlformats.org/officeDocument/2006/relationships/hyperlink" Target="https://www.geographyrealm.com/drones-and-gis-a-look-at-the-legal-and-ethical-issues/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humanitarianlibrary.org/" TargetMode="External"/><Relationship Id="rId4" Type="http://schemas.openxmlformats.org/officeDocument/2006/relationships/hyperlink" Target="https://www.workplaceethicsadvice.com/2016/04/legal-and-ethical-concerns-of-commercial-using-drones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llipsis-drive.com/blog/ethics-in-gis-an-" TargetMode="External"/><Relationship Id="rId2" Type="http://schemas.openxmlformats.org/officeDocument/2006/relationships/hyperlink" Target="https://sites.cc.gatech.edu/classes/AY2022/cs4002a_spring/protected/ethicssurveillance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eoinfotech.ng/ethics-of-gis-balancing-the-benefits-and-risks-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9027" y="4723305"/>
            <a:ext cx="6851160" cy="2085357"/>
          </a:xfrm>
        </p:spPr>
        <p:txBody>
          <a:bodyPr anchor="ctr"/>
          <a:lstStyle/>
          <a:p>
            <a:pPr marL="0" marR="0">
              <a:lnSpc>
                <a:spcPct val="200000"/>
              </a:lnSpc>
              <a:spcAft>
                <a:spcPts val="1000"/>
              </a:spcAft>
            </a:pPr>
            <a:r>
              <a:rPr lang="en-US" b="1" dirty="0">
                <a:effectLst/>
              </a:rPr>
              <a:t>Option #1: Drones and GIS</a:t>
            </a:r>
            <a:br>
              <a:rPr lang="en-US" b="1" dirty="0">
                <a:effectLst/>
              </a:rPr>
            </a:br>
            <a:r>
              <a:rPr lang="en-US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Nathan Rogers</a:t>
            </a:r>
            <a:b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Colorado State University Global</a:t>
            </a:r>
            <a:b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Course Code: CSC502</a:t>
            </a:r>
            <a:b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Dr. Jennifer Marquez, Ph.D. </a:t>
            </a:r>
            <a:b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1/12/2025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263E5-95D5-6B70-29F0-2BE35AB93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F0DA4-A53A-B3B5-10FC-BB367F67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1D5DC-0BC0-5117-2A22-01F8392B3A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Drones used in GIS have many ethical concerns such 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Privacy and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Environmental Impacts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Regulations and Accountability</a:t>
            </a:r>
          </a:p>
          <a:p>
            <a:r>
              <a:rPr lang="en-US" b="0" dirty="0"/>
              <a:t>However, when used properly, drones used in GIS can also have benefits and positive impacts such 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Risk minimization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Highly accurate data to assist in decision making, data analysis in dangerous areas, and map generation.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B6DEB-9032-7AB7-F21A-5D3534DB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7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5FAC1-9D42-0FE7-3EA1-F1140582F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Privacy and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09E0-0BF7-56B8-155B-7CB1F03C09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Drones with high quality cameras that produce high resolution images can capture individuals and private property without their knowledge or consent.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Data collected from these drones could be used for things other than the originally intended purpose if not properly protected, which leads to information leaks of personal information.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Misuse of the drone itself can include illegal surveillance, profiling.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Surveillance whether legal or illegal can lead to a violation in human rights, safety and harming people’s quality of life.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A6A1B-C939-EC9F-E8B0-C546DB75C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120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691F-D4F5-DAD1-8F0A-068FEEFD7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683E9-AC66-A025-1DB0-BD1D81572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39C95-C91E-F2DD-189B-EEDAB124F0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The noise that comes from drones can disrupt wildlife and natural habitats.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The overuse of drones in certain areas can cause harm to the landscape or ecosystems being studied.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The presence of drones in certain ecosystems can lead to changes in animal behavior and ways of living that can have disastrous impact on ecosystems.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Drone crashes can lead to toxic and hazardous material contaminating water and harming animals and local ecosystems.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1E27F-CD19-E29B-EE19-D141BBC31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310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B874D-E763-6379-BC1C-03F032873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D547C-5692-BD6F-B817-B7BAAA951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Regulation and Accountability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D8FD6-C6B2-1F79-E66C-CB91150B75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In many regions, drone operations are not sufficiently regulated, leading to the possibility of misuse or unsafe practices.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Drone data analysis must be transparent and accountable to ensure that decision-making doesn’t conflict with ethical norms.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Lack of transparency can lead to a loss of public trust.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Most regulations are in place for commercial drones. Whereas hobbyist drone flying has little-to-no regulation in place.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C6D40-4453-B32C-F35C-8B162C6A4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043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00E05-BE11-9D44-B5EE-384738129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C4A5F-1F3B-ECB3-2614-2ACEAF3A2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ethical 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ACAEE-EF81-B4FA-C8E9-AE3AD541C2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Where and how high drones can be flown is regulated by the Federal Aviation Administration (FAA).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Organizations such as the Urban and Regional Information Systems Association (URISA), have developed ethical guidelines and standards on how practitioners should collect and apply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Clear guidelines and ethical standards are needed to ensure drones are used responsibly and in compliance with local laws.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No-Fly Zones have been created for specific areas and situations which can lead to ambiguity and interpretation. Revisions need to be made to address all situations and types of drones.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7BDEE-0B4C-E797-9E91-53BAB06A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17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1CA9A-45CE-3E40-7F04-4791D1198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6856-9FE8-B937-3360-3A5132302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using drones for </a:t>
            </a:r>
            <a:r>
              <a:rPr lang="en-US" dirty="0" err="1"/>
              <a:t>gis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0B15D-C5E6-BF7B-B48C-E322C900BA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Drones provide precise spatial data that can be used for creating highly accurate maps, useful for a wide range of GIS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High resolution imagery can allow for better analysis of small-scale features such as infrastructure and topography.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Drones can provide high-quality data that improves decision-making for disaster response, and urban planning.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Drones can be deployed in dangerous or hazardous environments which minimizes risk to human surveyors and responders.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Drones can easily access areas that are hard to reach by foot or vehicles, which makes them valuable for environmental studies, and emergency response.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6EE71-A213-2EB5-9DF7-C42974D2D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468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D52A5-FFDB-13E7-D9EB-ED6540CCC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03628-E08F-545F-C6C1-362BA6BB3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7" y="2763078"/>
            <a:ext cx="10275363" cy="3407051"/>
          </a:xfrm>
        </p:spPr>
        <p:txBody>
          <a:bodyPr>
            <a:normAutofit fontScale="92500" lnSpcReduction="20000"/>
          </a:bodyPr>
          <a:lstStyle/>
          <a:p>
            <a:r>
              <a:rPr lang="en-US" b="0" dirty="0" err="1">
                <a:effectLst/>
              </a:rPr>
              <a:t>Geographyrealms</a:t>
            </a:r>
            <a:r>
              <a:rPr lang="en-US" b="0" dirty="0">
                <a:effectLst/>
              </a:rPr>
              <a:t>. (2015, September 10). </a:t>
            </a:r>
            <a:r>
              <a:rPr lang="en-US" b="0" i="1" dirty="0">
                <a:effectLst/>
              </a:rPr>
              <a:t>Drones and GIS: A look at the legal and ethical issues</a:t>
            </a:r>
            <a:r>
              <a:rPr lang="en-US" b="0" dirty="0">
                <a:effectLst/>
              </a:rPr>
              <a:t>. 	Geography Realm. </a:t>
            </a:r>
            <a:r>
              <a:rPr lang="en-US" b="0" dirty="0">
                <a:effectLst/>
                <a:hlinkClick r:id="rId2"/>
              </a:rPr>
              <a:t>https://www.geographyrealm.com/drones-and-gis-a-look-at-the-legal-</a:t>
            </a:r>
            <a:r>
              <a:rPr lang="en-US" b="0" u="sng" dirty="0">
                <a:effectLst/>
                <a:hlinkClick r:id="rId2"/>
              </a:rPr>
              <a:t>	</a:t>
            </a:r>
            <a:r>
              <a:rPr lang="en-US" b="0" dirty="0">
                <a:effectLst/>
                <a:hlinkClick r:id="rId2"/>
              </a:rPr>
              <a:t>and-ethical-issues/</a:t>
            </a:r>
            <a:endParaRPr lang="en-US" b="0" dirty="0">
              <a:effectLst/>
            </a:endParaRPr>
          </a:p>
          <a:p>
            <a:r>
              <a:rPr lang="en-US" b="0" dirty="0">
                <a:effectLst/>
              </a:rPr>
              <a:t>UAV, A. S. (2023, October 2). </a:t>
            </a:r>
            <a:r>
              <a:rPr lang="en-US" b="0" i="1" dirty="0">
                <a:effectLst/>
              </a:rPr>
              <a:t>Navigating the skies: The Ethics and regulations of drones in public safety</a:t>
            </a:r>
            <a:r>
              <a:rPr lang="en-US" b="0" dirty="0">
                <a:effectLst/>
              </a:rPr>
              <a:t>. 	Ethics &amp; Regulations of Drones in Public Safety: A Comprehensive Guide. 	</a:t>
            </a:r>
            <a:r>
              <a:rPr lang="en-US" b="0" dirty="0">
                <a:effectLst/>
                <a:hlinkClick r:id="rId3"/>
              </a:rPr>
              <a:t>https://www.linkedin.com/pulse/navigating-skies-ethics-regulations-drones-public-safety</a:t>
            </a:r>
            <a:endParaRPr lang="en-US" b="0" dirty="0">
              <a:effectLst/>
            </a:endParaRPr>
          </a:p>
          <a:p>
            <a:r>
              <a:rPr lang="en-US" b="0" dirty="0">
                <a:effectLst/>
              </a:rPr>
              <a:t>Legal and ethical concerns of commercial drone use - workplace ethics advice. (2016, April 7). 	</a:t>
            </a:r>
            <a:r>
              <a:rPr lang="en-US" b="0" dirty="0">
                <a:effectLst/>
                <a:hlinkClick r:id="rId4"/>
              </a:rPr>
              <a:t>https://www.workplaceethicsadvice.com/2016/04/legal-and-ethical-concerns-of-	commercial-using-drones.html</a:t>
            </a:r>
            <a:endParaRPr lang="en-US" b="0" dirty="0">
              <a:effectLst/>
            </a:endParaRPr>
          </a:p>
          <a:p>
            <a:r>
              <a:rPr lang="en-US" b="0" dirty="0">
                <a:effectLst/>
              </a:rPr>
              <a:t>Berman, G., de La Rosa, S., &amp; </a:t>
            </a:r>
            <a:r>
              <a:rPr lang="en-US" b="0" dirty="0" err="1">
                <a:effectLst/>
              </a:rPr>
              <a:t>Accone</a:t>
            </a:r>
            <a:r>
              <a:rPr lang="en-US" b="0" dirty="0">
                <a:effectLst/>
              </a:rPr>
              <a:t>, T. (2018, June). </a:t>
            </a:r>
            <a:r>
              <a:rPr lang="en-US" b="0" i="1" dirty="0">
                <a:effectLst/>
              </a:rPr>
              <a:t>Ethical Considerations When Using Geospatial 	Technologies for Evidence Generation</a:t>
            </a:r>
            <a:r>
              <a:rPr lang="en-US" b="0" dirty="0">
                <a:effectLst/>
              </a:rPr>
              <a:t>. Humanitarian library. 	</a:t>
            </a:r>
            <a:r>
              <a:rPr lang="en-US" b="0" dirty="0">
                <a:effectLst/>
                <a:hlinkClick r:id="rId5"/>
              </a:rPr>
              <a:t>https://www.humanitarianlibrary.org/</a:t>
            </a:r>
            <a:endParaRPr lang="en-US" b="0" dirty="0">
              <a:effectLst/>
            </a:endParaRPr>
          </a:p>
          <a:p>
            <a:r>
              <a:rPr lang="en-US" b="0" dirty="0"/>
              <a:t>	UNICEF PAPER</a:t>
            </a:r>
          </a:p>
          <a:p>
            <a:endParaRPr lang="en-US" b="0" dirty="0">
              <a:effectLst/>
            </a:endParaRPr>
          </a:p>
          <a:p>
            <a:endParaRPr lang="en-US" b="0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39378-C500-1561-B558-D4929E520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896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52337-1E91-6994-CC7F-189872B67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C8AAE-9E50-E21B-6E73-274B21249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B813C-7C58-131F-783F-36D30F271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7" y="2763078"/>
            <a:ext cx="10275363" cy="3407051"/>
          </a:xfrm>
        </p:spPr>
        <p:txBody>
          <a:bodyPr>
            <a:normAutofit/>
          </a:bodyPr>
          <a:lstStyle/>
          <a:p>
            <a:endParaRPr lang="en-US" b="0" dirty="0">
              <a:effectLst/>
            </a:endParaRPr>
          </a:p>
          <a:p>
            <a:endParaRPr lang="en-US" b="0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E2D5D-43AA-6489-E8B9-0C3CDE53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2A1C04-453C-7295-CB7D-4EC3EA05EDAF}"/>
              </a:ext>
            </a:extLst>
          </p:cNvPr>
          <p:cNvSpPr txBox="1">
            <a:spLocks/>
          </p:cNvSpPr>
          <p:nvPr/>
        </p:nvSpPr>
        <p:spPr>
          <a:xfrm>
            <a:off x="1474787" y="2915478"/>
            <a:ext cx="10275363" cy="340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effectLst/>
              </a:rPr>
              <a:t>West, J. P., &amp; Bowman, J. S. (2016). The domestic use of drones: An ethical analysis of 	Surveillance Issues. 	</a:t>
            </a:r>
            <a:r>
              <a:rPr lang="en-US" b="0" dirty="0">
                <a:effectLst/>
                <a:hlinkClick r:id="rId2"/>
              </a:rPr>
              <a:t>https://sites.cc.gatech.edu/classes/AY2022/cs4002a_spring/protected/ethicssurveillance</a:t>
            </a:r>
            <a:r>
              <a:rPr lang="en-US" b="0" dirty="0">
                <a:effectLst/>
              </a:rPr>
              <a:t>	.pdf</a:t>
            </a:r>
          </a:p>
          <a:p>
            <a:r>
              <a:rPr lang="en-US" b="0" i="1" dirty="0">
                <a:effectLst/>
              </a:rPr>
              <a:t>Ethics in GIS - An Overview</a:t>
            </a:r>
            <a:r>
              <a:rPr lang="en-US" b="0" dirty="0">
                <a:effectLst/>
              </a:rPr>
              <a:t>. Ellipsis Drive. (n.d.). </a:t>
            </a:r>
            <a:r>
              <a:rPr lang="en-US" b="0" dirty="0">
                <a:effectLst/>
                <a:hlinkClick r:id="rId3"/>
              </a:rPr>
              <a:t>https://ellipsis-drive.com/blog/ethics-in-gis-an-</a:t>
            </a:r>
            <a:r>
              <a:rPr lang="en-US" b="0" dirty="0">
                <a:effectLst/>
              </a:rPr>
              <a:t>	overview/ </a:t>
            </a:r>
          </a:p>
          <a:p>
            <a:r>
              <a:rPr lang="en-US" b="0" dirty="0" err="1">
                <a:effectLst/>
              </a:rPr>
              <a:t>Geoinfotech</a:t>
            </a:r>
            <a:r>
              <a:rPr lang="en-US" b="0" dirty="0">
                <a:effectLst/>
              </a:rPr>
              <a:t>. (2023, February 28). </a:t>
            </a:r>
            <a:r>
              <a:rPr lang="en-US" b="0" i="1" dirty="0">
                <a:effectLst/>
              </a:rPr>
              <a:t>Ethics of GIS: Balancing the benefits and risks of Geospatial 	Technologies</a:t>
            </a:r>
            <a:r>
              <a:rPr lang="en-US" b="0" dirty="0">
                <a:effectLst/>
              </a:rPr>
              <a:t>. </a:t>
            </a:r>
            <a:r>
              <a:rPr lang="en-US" b="0" dirty="0">
                <a:effectLst/>
                <a:hlinkClick r:id="rId4"/>
              </a:rPr>
              <a:t>https://geoinfotech.ng/ethics-of-gis-balancing-the-benefits-and-risks-</a:t>
            </a:r>
            <a:r>
              <a:rPr lang="en-US" b="0" dirty="0">
                <a:effectLst/>
              </a:rPr>
              <a:t>	of-geospatial-technologies/ </a:t>
            </a:r>
          </a:p>
          <a:p>
            <a:endParaRPr lang="en-US" b="0" dirty="0">
              <a:effectLst/>
            </a:endParaRPr>
          </a:p>
          <a:p>
            <a:endParaRPr lang="en-US" b="0" dirty="0"/>
          </a:p>
          <a:p>
            <a:endParaRPr lang="en-US" b="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65302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{F3249F40-6139-493D-930F-A3FD3F4C569A}tf67328976_win32</Template>
  <TotalTime>176</TotalTime>
  <Words>835</Words>
  <Application>Microsoft Office PowerPoint</Application>
  <PresentationFormat>Widescreen</PresentationFormat>
  <Paragraphs>58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Tenorite</vt:lpstr>
      <vt:lpstr>Custom</vt:lpstr>
      <vt:lpstr>Option #1: Drones and GIS Nathan Rogers Colorado State University Global Course Code: CSC502 Dr. Jennifer Marquez, Ph.D.  1/12/2025 </vt:lpstr>
      <vt:lpstr>Intro</vt:lpstr>
      <vt:lpstr>Privacy and Security</vt:lpstr>
      <vt:lpstr>Environmental Impact</vt:lpstr>
      <vt:lpstr>Regulation and Accountability</vt:lpstr>
      <vt:lpstr>Addressing ethical concerns</vt:lpstr>
      <vt:lpstr>Benefits of using drones for gis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Rogers</dc:creator>
  <cp:lastModifiedBy>Nathan Rogers</cp:lastModifiedBy>
  <cp:revision>6</cp:revision>
  <dcterms:created xsi:type="dcterms:W3CDTF">2025-01-12T17:44:25Z</dcterms:created>
  <dcterms:modified xsi:type="dcterms:W3CDTF">2025-01-12T20:40:59Z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